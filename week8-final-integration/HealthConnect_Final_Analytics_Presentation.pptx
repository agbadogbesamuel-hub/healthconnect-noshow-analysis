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Taux de no-show</c:v>
                </c:pt>
              </c:strCache>
            </c:strRef>
          </c:tx>
          <c:spPr>
            <a:solidFill>
              <a:srgbClr val="00897B"/>
            </a:solidFill>
            <a:ln w="19050"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29,5%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35,2%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45,5%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57,0%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71,4%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300" b="1">
                    <a:solidFill>
                      <a:srgbClr val="1F2A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0-7 j</c:v>
                </c:pt>
                <c:pt idx="1">
                  <c:v>8-14 j</c:v>
                </c:pt>
                <c:pt idx="2">
                  <c:v>15-30 j</c:v>
                </c:pt>
                <c:pt idx="3">
                  <c:v>31-45 j</c:v>
                </c:pt>
                <c:pt idx="4">
                  <c:v>46-60 j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29.5</c:v>
                </c:pt>
                <c:pt idx="1">
                  <c:v>35.2</c:v>
                </c:pt>
                <c:pt idx="2">
                  <c:v>45.5</c:v>
                </c:pt>
                <c:pt idx="3">
                  <c:v>57.0</c:v>
                </c:pt>
                <c:pt idx="4">
                  <c:v>71.4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Taux de no-show</c:v>
                </c:pt>
              </c:strCache>
            </c:strRef>
          </c:tx>
          <c:spPr>
            <a:solidFill>
              <a:srgbClr val="00897B"/>
            </a:solidFill>
            <a:ln w="19050">
              <a:solidFill>
                <a:srgbClr val="FFFFFF"/>
              </a:solidFill>
            </a:ln>
          </c:spPr>
          <c:dPt>
            <c:idx val="0"/>
            <c:spPr>
              <a:solidFill>
                <a:srgbClr val="5FB8AD"/>
              </a:solidFill>
            </c:spPr>
          </c:dPt>
          <c:dPt>
            <c:idx val="1"/>
            <c:spPr>
              <a:solidFill>
                <a:srgbClr val="2A9D8F"/>
              </a:solidFill>
            </c:spPr>
          </c:dPt>
          <c:dPt>
            <c:idx val="2"/>
            <c:spPr>
              <a:solidFill>
                <a:srgbClr val="1F7A70"/>
              </a:solidFill>
            </c:spPr>
          </c:dPt>
          <c:dPt>
            <c:idx val="3"/>
            <c:spPr>
              <a:solidFill>
                <a:srgbClr val="155A53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34,5%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45,6%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59,1%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70,5%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300" b="1">
                    <a:solidFill>
                      <a:srgbClr val="1F2A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 (hist.)</c:v>
                </c:pt>
                <c:pt idx="2">
                  <c:v>Medium (délai)</c:v>
                </c:pt>
                <c:pt idx="3">
                  <c:v>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34.5</c:v>
                </c:pt>
                <c:pt idx="1">
                  <c:v>45.6</c:v>
                </c:pt>
                <c:pt idx="2">
                  <c:v>59.1</c:v>
                </c:pt>
                <c:pt idx="3">
                  <c:v>70.5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Taux de no-show</c:v>
                </c:pt>
              </c:strCache>
            </c:strRef>
          </c:tx>
          <c:spPr>
            <a:solidFill>
              <a:srgbClr val="00897B"/>
            </a:solidFill>
            <a:ln w="19050">
              <a:solidFill>
                <a:srgbClr val="FFFFFF"/>
              </a:solidFill>
            </a:ln>
          </c:spPr>
          <c:dPt>
            <c:idx val="0"/>
            <c:spPr>
              <a:solidFill>
                <a:srgbClr val="00897B"/>
              </a:solidFill>
            </c:spPr>
          </c:dPt>
          <c:dPt>
            <c:idx val="1"/>
            <c:spPr>
              <a:solidFill>
                <a:srgbClr val="7FC4BB"/>
              </a:solidFill>
            </c:spPr>
          </c:dPt>
          <c:dPt>
            <c:idx val="2"/>
            <c:spPr>
              <a:solidFill>
                <a:srgbClr val="7FC4BB"/>
              </a:solidFill>
            </c:spPr>
          </c:dPt>
          <c:dPt>
            <c:idx val="3"/>
            <c:spPr>
              <a:solidFill>
                <a:srgbClr val="7FC4BB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48,0%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51,0%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52,7%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54,6%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300" b="1">
                    <a:solidFill>
                      <a:srgbClr val="1F2A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SMS</c:v>
                </c:pt>
                <c:pt idx="1">
                  <c:v>Email</c:v>
                </c:pt>
                <c:pt idx="2">
                  <c:v>WhatsApp</c:v>
                </c:pt>
                <c:pt idx="3">
                  <c:v>Aucun rappel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51.0</c:v>
                </c:pt>
                <c:pt idx="2">
                  <c:v>52.7</c:v>
                </c:pt>
                <c:pt idx="3">
                  <c:v>54.6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Seuil 0,50</c:v>
                </c:pt>
              </c:strCache>
            </c:strRef>
          </c:tx>
          <c:spPr>
            <a:solidFill>
              <a:srgbClr val="D9692A"/>
            </a:solidFill>
            <a:ln w="19050"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0,64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0,64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0,66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0,65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0" sourceLinked="0"/>
            <c:txPr>
              <a:bodyPr/>
              <a:lstStyle/>
              <a:p>
                <a:pPr>
                  <a:defRPr sz="1300" b="1">
                    <a:solidFill>
                      <a:srgbClr val="1F2A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Précision</c:v>
                </c:pt>
                <c:pt idx="2">
                  <c:v>Rappel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0.637</c:v>
                </c:pt>
                <c:pt idx="1">
                  <c:v>0.64</c:v>
                </c:pt>
                <c:pt idx="2">
                  <c:v>0.662</c:v>
                </c:pt>
                <c:pt idx="3">
                  <c:v>0.651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Seuil 0,40 (final)</c:v>
                </c:pt>
              </c:strCache>
            </c:strRef>
          </c:tx>
          <c:spPr>
            <a:solidFill>
              <a:srgbClr val="00897B"/>
            </a:solidFill>
            <a:ln w="19050"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0,62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0,59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0,82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0,69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0" sourceLinked="0"/>
            <c:txPr>
              <a:bodyPr/>
              <a:lstStyle/>
              <a:p>
                <a:pPr>
                  <a:defRPr sz="1300" b="1">
                    <a:solidFill>
                      <a:srgbClr val="1F2A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Précision</c:v>
                </c:pt>
                <c:pt idx="2">
                  <c:v>Rappel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0.616</c:v>
                </c:pt>
                <c:pt idx="1">
                  <c:v>0.59</c:v>
                </c:pt>
                <c:pt idx="2">
                  <c:v>0.817</c:v>
                </c:pt>
                <c:pt idx="3">
                  <c:v>0.685</c:v>
                </c:pt>
              </c:numCache>
            </c:numRef>
          </c:val>
        </c:ser>
        <c:gapWidth val="6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Seuil 0,50</c:v>
                </c:pt>
              </c:strCache>
            </c:strRef>
          </c:tx>
          <c:spPr>
            <a:solidFill>
              <a:srgbClr val="D9692A"/>
            </a:solidFill>
            <a:ln w="19050"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96,6%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50,5%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10,7%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300" b="1">
                    <a:solidFill>
                      <a:srgbClr val="1F2A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 (hist.)</c:v>
                </c:pt>
                <c:pt idx="2">
                  <c:v>Medium (délai)</c:v>
                </c:pt>
                <c:pt idx="3">
                  <c:v>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96.6</c:v>
                </c:pt>
                <c:pt idx="1">
                  <c:v>50.5</c:v>
                </c:pt>
                <c:pt idx="2">
                  <c:v>10.7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Seuil 0,40</c:v>
                </c:pt>
              </c:strCache>
            </c:strRef>
          </c:tx>
          <c:spPr>
            <a:solidFill>
              <a:srgbClr val="00897B"/>
            </a:solidFill>
            <a:ln w="19050"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67,8%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23,3%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300" b="1">
                    <a:solidFill>
                      <a:srgbClr val="1F2A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 (hist.)</c:v>
                </c:pt>
                <c:pt idx="2">
                  <c:v>Medium (délai)</c:v>
                </c:pt>
                <c:pt idx="3">
                  <c:v>High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67.8</c:v>
                </c:pt>
                <c:pt idx="1">
                  <c:v>23.3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gapWidth val="6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Présentation de la contribution Data Analytics au projet HealthConnect : comment les données sur 5 000 rendez-vous se traduisent en décisions concrètes pour la clinique.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problème : 48,5 % de no-show, avec peu d'annulations, donc des créneaux perdus sans prévenir.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semaine s'appuie sur la précédente ; la semaine 8 transforme l'analyse en aide à la décision.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Tous ces KPIs ont été recalculés en semaine 8 et correspondent exactement aux valeurs publiées.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délai est le facteur le plus fort : 29,5 % à 71,4 %. Il est structurel à toute la clinique.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segmentation est lisible par le personnel sans modèle : deux questions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levier le moins coûteux est le plus négligé : plus d'un quart des RDV ne reçoivent aucun rappel.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 cycle de qualité : chaque résultat testé, et une correction transparente d'un libellé qui, une fois corrigé, renforce la recommandation.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Compromis assumé : un no-show manqué coûte plus cher qu'un rappel superflu.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 le segment Low Risk, le modèle manque encore 67,8 % des no-shows : il ne peut pas justifier une exclusion.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appels coûteux restent limités à environ 206 RDV sur 1 000 ; le modèle déclenche seulement des actions peu coûteuses. La capacité d'appel reste à confirmer avec la Gestion de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Cohorte solo : rôle Data Science auto-assumé ; les outputs vers PM, MLE et GenAI sont fournis comme livrables de transmission, sans retour réel reçu.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Être explicite sur les limites fait partie de la valeur du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 : des actions simples, proportionnées au risque, et testées avant généralisation.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FC4BB"/>
                </a:solidFill>
                <a:latin typeface="Calibri"/>
              </a:rPr>
              <a:t>ANALYSTLAB AFRICA · EXPERIENCE LAB · SEMAINE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Réduire les no-shows à HealthConnect : de l'analyse à la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9E6E2"/>
                </a:solidFill>
                <a:latin typeface="Calibri"/>
              </a:rPr>
              <a:t>Final Analytics &amp; Decision Support Package, piste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Josfrid AGBADOGBE · Data Analytics Intern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E6E2"/>
                </a:solidFill>
                <a:latin typeface="Calibri"/>
              </a:rPr>
              <a:t>HealthConnect Clinic Experience Lab ·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Calibri"/>
              </a:rPr>
              <a:t>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mbria"/>
              </a:rPr>
              <a:t>Près d'un rendez-vous sur deux n'est pas honoré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4754880" cy="4023360"/>
          </a:xfrm>
          <a:prstGeom prst="roundRect">
            <a:avLst>
              <a:gd name="adj" fmla="val 8000"/>
            </a:avLst>
          </a:prstGeom>
          <a:solidFill>
            <a:srgbClr val="155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114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mbria"/>
              </a:rPr>
              <a:t>48,5%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9E6E2"/>
                </a:solidFill>
                <a:latin typeface="Calibri"/>
              </a:rPr>
              <a:t>des 5 000 rendez-vous se soldent par un no-show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E6E2"/>
                </a:solidFill>
                <a:latin typeface="Calibri"/>
              </a:rPr>
              <a:t>51,1% parmi les RDV où le patient était attendu</a:t>
            </a:r>
          </a:p>
        </p:txBody>
      </p:sp>
      <p:sp>
        <p:nvSpPr>
          <p:cNvPr id="8" name="Oval 7"/>
          <p:cNvSpPr/>
          <p:nvPr/>
        </p:nvSpPr>
        <p:spPr>
          <a:xfrm>
            <a:off x="5852160" y="1920240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0195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Créneaux perdus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</a:rPr>
              <a:t>Un no-show est rarement anticipé : seuls 5,3 % des RDV sont annulés formellement.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0" y="3246120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278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Charge administrative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</a:rPr>
              <a:t>Relances répétées et replanification manuelle pour le personnel.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4572000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5371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Qualité des soins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98348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</a:rPr>
              <a:t>Les patients qui ne viennent pas retardent leur suivi médical.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HealthConnect · Data Analytics · Semaine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Calibri"/>
              </a:rPr>
              <a:t>PARCOURS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mbria"/>
              </a:rPr>
              <a:t>Quatre semaines de travail, un seul fil conducteur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057400" cy="329184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331720"/>
            <a:ext cx="594360" cy="59436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Comprendre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Problème défini, 5 KPIs potentiels, dataset inspecté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103120"/>
            <a:ext cx="2057400" cy="329184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63240" y="2331720"/>
            <a:ext cx="594360" cy="59436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154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Analyser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7033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Données nettoyées, 4 KPIs calculés, 5 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103120"/>
            <a:ext cx="2057400" cy="329184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49240" y="2331720"/>
            <a:ext cx="594360" cy="59436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154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Valider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7033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Tests χ², segmentation à 4 niveaux, modèle de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103120"/>
            <a:ext cx="2057400" cy="329184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331720"/>
            <a:ext cx="594360" cy="59436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154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</a:rPr>
              <a:t>Tester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7033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Audit des KPIs, anomalie expliquée, seuil 0,50 → 0,40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103120"/>
            <a:ext cx="2057400" cy="3291840"/>
          </a:xfrm>
          <a:prstGeom prst="roundRect">
            <a:avLst>
              <a:gd name="adj" fmla="val 8000"/>
            </a:avLst>
          </a:prstGeom>
          <a:solidFill>
            <a:srgbClr val="155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21240" y="2331720"/>
            <a:ext cx="594360" cy="594360"/>
          </a:xfrm>
          <a:prstGeom prst="ellipse">
            <a:avLst/>
          </a:prstGeom>
          <a:solidFill>
            <a:srgbClr val="D9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3154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Décider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3703320"/>
            <a:ext cx="1691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E6E2"/>
                </a:solidFill>
                <a:latin typeface="Calibri"/>
              </a:rPr>
              <a:t>Validation croisée, correction d'un libellé, protocole d'action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2514E"/>
                </a:solidFill>
                <a:latin typeface="Calibri"/>
              </a:rPr>
              <a:t>Aucune nouvelle analyse en Semaine 8 : consolidation, validation et traduction en décisions.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HealthConnect · Data Analytics · Semaine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Calibri"/>
              </a:rPr>
              <a:t>KPIS FINAUX VALIDÉS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mbria"/>
              </a:rPr>
              <a:t>Quatre chiffres suffisent à résumer le problème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55A53"/>
                </a:solidFill>
                <a:latin typeface="Cambria"/>
              </a:rPr>
              <a:t>29,5% → 71,4%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No-show selon le délai de réservation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0-7 jours vs 46-60 jours · χ² p &lt; 0,0001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55A53"/>
                </a:solidFill>
                <a:latin typeface="Cambria"/>
              </a:rPr>
              <a:t>46,3% → 70,3%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80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No-show selon l'historique du 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46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0 vs 3+ no-shows précédents · χ² p &lt; 0,0001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55A53"/>
                </a:solidFill>
                <a:latin typeface="Cambria"/>
              </a:rPr>
              <a:t>70,5%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No-show du segment High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20,6% des RDV · délai &gt; 30 j + historique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02336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5196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55A53"/>
                </a:solidFill>
                <a:latin typeface="Cambria"/>
              </a:rPr>
              <a:t>27,3%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074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RDV sans aucun rappel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440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54,6% de no-show pour ce groupe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HealthConnect · Data Analytics · Semaine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Calibri"/>
              </a:rPr>
              <a:t>PATTERN N°1 · DÉLAI DE RÉSERVATION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mbria"/>
              </a:rPr>
              <a:t>Plus le rendez-vous est lointain, plus il est manqué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737360"/>
          <a:ext cx="72237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92024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21945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155A53"/>
                </a:solidFill>
                <a:latin typeface="Cambria"/>
              </a:rPr>
              <a:t>× 2,4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30632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de risque entre un RDV à moins d'une semaine et un RDV à 46-60 jours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420624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Progression monotone sur les 5 tranches.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Confirmée dans les 4 types de RDV : un problème de politique de réservation, pas de spécialité.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HealthConnect · Data Analytics · Semaine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Calibri"/>
              </a:rPr>
              <a:t>PATTERN N°2 · EFFET CUMULÉ DÉLAI × HISTORIQUE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mbria"/>
              </a:rPr>
              <a:t>Un rendez-vous sur cinq concentre le risque le plus élevé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737360"/>
          <a:ext cx="72237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92024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21945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55A53"/>
                </a:solidFill>
                <a:latin typeface="Cambria"/>
              </a:rPr>
              <a:t>977 RDV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30175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dans le segment High Risk (20,6%), avec 70,5% de no-show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416052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Règle simple : délai &gt; 30 jours ET au moins 1 no-show précédent.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Même le segment Low Risk reste à 34,5% : aucun patient n'est « sans risque 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HealthConnect · Data Analytics · Semaine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Calibri"/>
              </a:rPr>
              <a:t>PATTERN N°3 · CANAL DE RAPPEL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mbria"/>
              </a:rPr>
              <a:t>Le rappel compte, et le SMS fonctionne le mieux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737360"/>
          <a:ext cx="72237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92024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21945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55A53"/>
                </a:solidFill>
                <a:latin typeface="Cambria"/>
              </a:rPr>
              <a:t>1 285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30632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RDV sans aucun rappel (27,3% du total)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40690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WhatsApp apporte peu par rapport à l'absence de rappel.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Effet significatif (p = 0,0019) mais modeste : 6,6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HealthConnect · Data Analytics · Semaine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Calibri"/>
              </a:rPr>
              <a:t>RIGUEUR ANALYTIQUE · TEST → TROUVAILLE → ACTION → RETEST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mbria"/>
              </a:rPr>
              <a:t>Chaque chiffre a été testé avant d'être présenté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57400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Audit des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546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13/13 valeurs recalculées à l'identique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0" y="2057400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Anomalie heatmap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546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Cellule à 23 % = bruit (n = 13, IC [8 % ; 50 %])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Erreurs par 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546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Seuil 0,50 trop conservateur → abaissé à 0,40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82880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0" y="2057400"/>
            <a:ext cx="548640" cy="548640"/>
          </a:xfrm>
          <a:prstGeom prst="ellipse">
            <a:avLst/>
          </a:prstGeom>
          <a:solidFill>
            <a:srgbClr val="D9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Validation croisée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1546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Gain du seuil 0,40 confirmé sur 5 plis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8000"/>
            </a:avLst>
          </a:prstGeom>
          <a:solidFill>
            <a:srgbClr val="155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Correction apportée en Semaine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E6E2"/>
                </a:solidFill>
                <a:latin typeface="Calibri"/>
              </a:rPr>
              <a:t>Le « 34,3 % » du segment Low Risk (S7) était exact mais mal libellé : c'est la part de tous les RDV du segment, pas des vrais no-shows. Rapporté aux vrais no-shows, le modèle en manquait 96,6 % (seuil 0,50) et encore 67,8 % (seuil 0,40).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HealthConnect · Data Analytics · Semaine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Calibri"/>
              </a:rPr>
              <a:t>MODÈLE CANDIDAT FINAL · VALIDATION CROISÉE 5-FOLD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mbria"/>
              </a:rPr>
              <a:t>Le seuil 0,40 anticipe 16 points de no-shows en plus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737360"/>
          <a:ext cx="72237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92024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21488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Modèle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2606040"/>
            <a:ext cx="30632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4 features </a:t>
            </a:r>
            <a:r>
              <a:rPr sz="1400" b="0" i="0">
                <a:solidFill>
                  <a:srgbClr val="52514E"/>
                </a:solidFill>
                <a:latin typeface="Calibri"/>
              </a:rPr>
              <a:t>validées par Data Analytics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Régression logistique </a:t>
            </a:r>
            <a:r>
              <a:rPr sz="1400" b="0" i="0">
                <a:solidFill>
                  <a:srgbClr val="52514E"/>
                </a:solidFill>
                <a:latin typeface="Calibri"/>
              </a:rPr>
              <a:t>standardisée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Rappel </a:t>
            </a:r>
            <a:r>
              <a:rPr sz="1400" b="0" i="0">
                <a:solidFill>
                  <a:srgbClr val="52514E"/>
                </a:solidFill>
                <a:latin typeface="Calibri"/>
              </a:rPr>
              <a:t>0,817 ± 0,005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F1 </a:t>
            </a:r>
            <a:r>
              <a:rPr sz="1400" b="0" i="0">
                <a:solidFill>
                  <a:srgbClr val="52514E"/>
                </a:solidFill>
                <a:latin typeface="Calibri"/>
              </a:rPr>
              <a:t>0,685 ± 0,006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ROC-AUC </a:t>
            </a:r>
            <a:r>
              <a:rPr sz="1400" b="0" i="0">
                <a:solidFill>
                  <a:srgbClr val="52514E"/>
                </a:solidFill>
                <a:latin typeface="Calibri"/>
              </a:rPr>
              <a:t>0,683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Coût : </a:t>
            </a:r>
            <a:r>
              <a:rPr sz="1400" b="0" i="0">
                <a:solidFill>
                  <a:srgbClr val="52514E"/>
                </a:solidFill>
                <a:latin typeface="Calibri"/>
              </a:rPr>
              <a:t>~300 fausses alertes / 1 000 RDV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HealthConnect · Data Analytics · Semaine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Calibri"/>
              </a:rPr>
              <a:t>USAGE DU MODÈLE · PART DES VRAIS NO-SHOWS MANQUÉS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mbria"/>
              </a:rPr>
              <a:t>Le modèle priorise, il ne doit jamais exclure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73736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828800"/>
            <a:ext cx="4069080" cy="201168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20116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55A53"/>
                </a:solidFill>
                <a:latin typeface="Calibri"/>
              </a:rPr>
              <a:t>Peut servir 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42316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Prioriser les rappels renforcés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Estimer la charge de relance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Suivre le risque par segment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4023360"/>
            <a:ext cx="4069080" cy="2103120"/>
          </a:xfrm>
          <a:prstGeom prst="roundRect">
            <a:avLst>
              <a:gd name="adj" fmla="val 8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42062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A84A16"/>
                </a:solidFill>
                <a:latin typeface="Calibri"/>
              </a:rPr>
              <a:t>Ne doit pas servir 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61772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Supprimer le rappel d'un patient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Refuser ou déclasser un RDV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Communiquer un score au 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HealthConnect · Data Analytics · Semaine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Calibri"/>
              </a:rPr>
              <a:t>DÉCISION · POUR 1 000 RENDEZ-VOUS ATTENDUS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mbria"/>
              </a:rPr>
              <a:t>Recommandation : un protocole de rappel à trois niveaux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155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NIVEAU 1 · RENFORCÉ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~206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Segment High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E6E2"/>
                </a:solidFill>
                <a:latin typeface="Calibri"/>
              </a:rPr>
              <a:t>Appel personnel de confirmation + rappel à mi-délai + SMS J-1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8308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1965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NIVEAU 2 · SURVEILLÉ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3774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~517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246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Signalés par le modèle (≥ 0,40)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3703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Double rappel SMS : J-7 et J-1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83080"/>
            <a:ext cx="3520440" cy="338328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965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NIVEAU 3 ·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3774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B2545"/>
                </a:solidFill>
                <a:latin typeface="Cambria"/>
              </a:rPr>
              <a:t>~277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246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libri"/>
              </a:rPr>
              <a:t>Tous les autres RDV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703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2514E"/>
                </a:solidFill>
                <a:latin typeface="Calibri"/>
              </a:rPr>
              <a:t>SMS standard J-1 : jamais zéro rappel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libri"/>
              </a:rPr>
              <a:t>Et pour tous :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SMS comme canal par défaut · rappel intermédiaire au-delà de 30 jours · pilote de 8 semaines avec groupe témoin avant généralisation.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HealthConnect · Data Analytics · Semaine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Calibri"/>
              </a:rPr>
              <a:t>INTÉGRATION HC-POD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mbria"/>
              </a:rPr>
              <a:t>Comment l'analytique alimente les autres pistes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306324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155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80560" y="306324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Data Analytics</a:t>
            </a:r>
          </a:p>
          <a:p>
            <a:pPr algn="ctr"/>
            <a:r>
              <a:rPr sz="2000" b="0" i="0">
                <a:solidFill>
                  <a:srgbClr val="C9E6E2"/>
                </a:solidFill>
                <a:latin typeface="Calibri"/>
              </a:rPr>
              <a:t>KPIs · segments · protocole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65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5000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2514E"/>
                </a:solidFill>
                <a:latin typeface="Calibri"/>
              </a:rPr>
              <a:t>Reçoit : features, segments, CV du seuil</a:t>
            </a:r>
          </a:p>
          <a:p>
            <a:pPr algn="l"/>
            <a:r>
              <a:rPr sz="1250" b="0" i="0">
                <a:solidFill>
                  <a:srgbClr val="52514E"/>
                </a:solidFill>
                <a:latin typeface="Calibri"/>
              </a:rPr>
              <a:t>Fournit : modèle candidat 0,40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54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5A53"/>
                </a:solidFill>
                <a:latin typeface="Calibri"/>
              </a:rPr>
              <a:t>Intégré et testé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8308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Project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5000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2514E"/>
                </a:solidFill>
                <a:latin typeface="Calibri"/>
              </a:rPr>
              <a:t>Reçoit : table de décision, charge / 1 000 RDV</a:t>
            </a:r>
          </a:p>
          <a:p>
            <a:pPr algn="l"/>
            <a:r>
              <a:rPr sz="1250" b="0" i="0">
                <a:solidFill>
                  <a:srgbClr val="52514E"/>
                </a:solidFill>
                <a:latin typeface="Calibri"/>
              </a:rPr>
              <a:t>Attendu : capacité d'appel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154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5A53"/>
                </a:solidFill>
                <a:latin typeface="Calibri"/>
              </a:rPr>
              <a:t>Confirmation attendue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5262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ML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91032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2514E"/>
                </a:solidFill>
                <a:latin typeface="Calibri"/>
              </a:rPr>
              <a:t>Reçoit : schéma entrée / sortie, seuil</a:t>
            </a:r>
          </a:p>
          <a:p>
            <a:pPr algn="l"/>
            <a:r>
              <a:rPr sz="1250" b="0" i="0">
                <a:solidFill>
                  <a:srgbClr val="52514E"/>
                </a:solidFill>
                <a:latin typeface="Calibri"/>
              </a:rPr>
              <a:t>Attendu : contraintes du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7150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5A53"/>
                </a:solidFill>
                <a:latin typeface="Calibri"/>
              </a:rPr>
              <a:t>Contraintes attendues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34340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5262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Generative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91032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2514E"/>
                </a:solidFill>
                <a:latin typeface="Calibri"/>
              </a:rPr>
              <a:t>Reçoit : règle d'escalade humaine</a:t>
            </a:r>
          </a:p>
          <a:p>
            <a:pPr algn="l"/>
            <a:r>
              <a:rPr sz="1250" b="0" i="0">
                <a:solidFill>
                  <a:srgbClr val="52514E"/>
                </a:solidFill>
                <a:latin typeface="Calibri"/>
              </a:rPr>
              <a:t>pour le niveau 1 (High Risk)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7150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5A53"/>
                </a:solidFill>
                <a:latin typeface="Calibri"/>
              </a:rPr>
              <a:t>Fourni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69080" y="2651760"/>
            <a:ext cx="411480" cy="64008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680960" y="2651760"/>
            <a:ext cx="457200" cy="64008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069080" y="4206240"/>
            <a:ext cx="411480" cy="100584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7680960" y="4206240"/>
            <a:ext cx="457200" cy="100584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HealthConnect · Data Analytics · Semaine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Calibri"/>
              </a:rPr>
              <a:t>LIMITES ET PROCHAINES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mbria"/>
              </a:rPr>
              <a:t>Ce que l'analyse ne peut pas encore affirmer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40680" cy="420624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2545"/>
                </a:solidFill>
                <a:latin typeface="Calibri"/>
              </a:rPr>
              <a:t>Limites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48920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1700" b="1" i="0">
                <a:solidFill>
                  <a:srgbClr val="1F2A37"/>
                </a:solidFill>
                <a:latin typeface="Calibri"/>
              </a:rPr>
              <a:t>Corrélation, pas causalité </a:t>
            </a:r>
            <a:r>
              <a:rPr sz="1700" b="0" i="0">
                <a:solidFill>
                  <a:srgbClr val="52514E"/>
                </a:solidFill>
                <a:latin typeface="Calibri"/>
              </a:rPr>
              <a:t>(scénarios = bornes indicatives)</a:t>
            </a:r>
          </a:p>
          <a:p>
            <a:pPr algn="l">
              <a:spcAft>
                <a:spcPts val="1800"/>
              </a:spcAft>
            </a:pPr>
            <a:r>
              <a:rPr sz="1700" b="1" i="0">
                <a:solidFill>
                  <a:srgbClr val="1F2A37"/>
                </a:solidFill>
                <a:latin typeface="Calibri"/>
              </a:rPr>
              <a:t>Dataset fictif : </a:t>
            </a:r>
            <a:r>
              <a:rPr sz="1700" b="0" i="0">
                <a:solidFill>
                  <a:srgbClr val="52514E"/>
                </a:solidFill>
                <a:latin typeface="Calibri"/>
              </a:rPr>
              <a:t>48 % de no-show vs 10-30 % en réalité</a:t>
            </a:r>
          </a:p>
          <a:p>
            <a:pPr algn="l">
              <a:spcAft>
                <a:spcPts val="1800"/>
              </a:spcAft>
            </a:pPr>
            <a:r>
              <a:rPr sz="1700" b="1" i="0">
                <a:solidFill>
                  <a:srgbClr val="1F2A37"/>
                </a:solidFill>
                <a:latin typeface="Calibri"/>
              </a:rPr>
              <a:t>Précision modérée : </a:t>
            </a:r>
            <a:r>
              <a:rPr sz="1700" b="0" i="0">
                <a:solidFill>
                  <a:srgbClr val="52514E"/>
                </a:solidFill>
                <a:latin typeface="Calibri"/>
              </a:rPr>
              <a:t>~300 fausses alertes / 1 000 RDV</a:t>
            </a:r>
          </a:p>
          <a:p>
            <a:pPr algn="l">
              <a:spcAft>
                <a:spcPts val="1800"/>
              </a:spcAft>
            </a:pPr>
            <a:r>
              <a:rPr sz="1700" b="1" i="0">
                <a:solidFill>
                  <a:srgbClr val="1F2A37"/>
                </a:solidFill>
                <a:latin typeface="Calibri"/>
              </a:rPr>
              <a:t>Low Risk mal couvert : </a:t>
            </a:r>
            <a:r>
              <a:rPr sz="1700" b="0" i="0">
                <a:solidFill>
                  <a:srgbClr val="52514E"/>
                </a:solidFill>
                <a:latin typeface="Calibri"/>
              </a:rPr>
              <a:t>67,8 % des no-shows non détectés</a:t>
            </a:r>
          </a:p>
          <a:p>
            <a:pPr algn="l">
              <a:spcAft>
                <a:spcPts val="1800"/>
              </a:spcAft>
            </a:pPr>
            <a:r>
              <a:rPr sz="1700" b="1" i="0">
                <a:solidFill>
                  <a:srgbClr val="1F2A37"/>
                </a:solidFill>
                <a:latin typeface="Calibri"/>
              </a:rPr>
              <a:t>Pas de validation temporelle </a:t>
            </a:r>
            <a:r>
              <a:rPr sz="1700" b="0" i="0">
                <a:solidFill>
                  <a:srgbClr val="52514E"/>
                </a:solidFill>
                <a:latin typeface="Calibri"/>
              </a:rPr>
              <a:t>ni de canal randomisé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206240"/>
          </a:xfrm>
          <a:prstGeom prst="roundRect">
            <a:avLst>
              <a:gd name="adj" fmla="val 8000"/>
            </a:avLst>
          </a:prstGeom>
          <a:solidFill>
            <a:srgbClr val="155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57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Prochaines étapes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651760"/>
            <a:ext cx="48920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1700" b="0" i="0">
                <a:solidFill>
                  <a:srgbClr val="C9E6E2"/>
                </a:solidFill>
                <a:latin typeface="Calibri"/>
              </a:rPr>
              <a:t>Pilote de 8 semaines avec groupe témoin</a:t>
            </a:r>
          </a:p>
          <a:p>
            <a:pPr algn="l">
              <a:spcAft>
                <a:spcPts val="1800"/>
              </a:spcAft>
            </a:pPr>
            <a:r>
              <a:rPr sz="1700" b="0" i="0">
                <a:solidFill>
                  <a:srgbClr val="C9E6E2"/>
                </a:solidFill>
                <a:latin typeface="Calibri"/>
              </a:rPr>
              <a:t>Validation temporelle : entraîner sur 2025, tester sur 2026</a:t>
            </a:r>
          </a:p>
          <a:p>
            <a:pPr algn="l">
              <a:spcAft>
                <a:spcPts val="1800"/>
              </a:spcAft>
            </a:pPr>
            <a:r>
              <a:rPr sz="1700" b="0" i="0">
                <a:solidFill>
                  <a:srgbClr val="C9E6E2"/>
                </a:solidFill>
                <a:latin typeface="Calibri"/>
              </a:rPr>
              <a:t>Confirmer la capacité d'appel avec la Gestion de Projet</a:t>
            </a:r>
          </a:p>
          <a:p>
            <a:pPr algn="l">
              <a:spcAft>
                <a:spcPts val="1800"/>
              </a:spcAft>
            </a:pPr>
            <a:r>
              <a:rPr sz="1700" b="0" i="0">
                <a:solidFill>
                  <a:srgbClr val="C9E6E2"/>
                </a:solidFill>
                <a:latin typeface="Calibri"/>
              </a:rPr>
              <a:t>Ajouter des variables (motif, transport)</a:t>
            </a:r>
          </a:p>
          <a:p>
            <a:pPr algn="l">
              <a:spcAft>
                <a:spcPts val="1800"/>
              </a:spcAft>
            </a:pPr>
            <a:r>
              <a:rPr sz="1700" b="0" i="0">
                <a:solidFill>
                  <a:srgbClr val="C9E6E2"/>
                </a:solidFill>
                <a:latin typeface="Calibri"/>
              </a:rPr>
              <a:t>Tableau de bord Power BI alimenté par final_kpis.json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HealthConnect · Data Analytics · Semaine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2514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FC4BB"/>
                </a:solidFill>
                <a:latin typeface="Calibri"/>
              </a:rPr>
              <a:t>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Le no-show est un problème de calendrier et de rappel, pas de profil patient.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7FC4BB"/>
                </a:solidFill>
                <a:latin typeface="Cambria"/>
              </a:rPr>
              <a:t>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9E6E2"/>
                </a:solidFill>
                <a:latin typeface="Calibri"/>
              </a:rPr>
              <a:t>de RDV sans rappel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41148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7FC4BB"/>
                </a:solidFill>
                <a:latin typeface="Cambria"/>
              </a:rPr>
              <a:t>~206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4937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9E6E2"/>
                </a:solidFill>
                <a:latin typeface="Calibri"/>
              </a:rPr>
              <a:t>appels ciblés / 1 000 RDV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1148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7FC4BB"/>
                </a:solidFill>
                <a:latin typeface="Cambria"/>
              </a:rPr>
              <a:t>0,40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937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9E6E2"/>
                </a:solidFill>
                <a:latin typeface="Calibri"/>
              </a:rPr>
              <a:t>seuil final, validé 5-fold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E6E2"/>
                </a:solidFill>
                <a:latin typeface="Calibri"/>
              </a:rPr>
              <a:t>Merci · Josfrid AGBADOGBE · #AnalystLabAfrica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